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8A9C"/>
    <a:srgbClr val="F77A39"/>
    <a:srgbClr val="1F742A"/>
    <a:srgbClr val="AB3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5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BRIGHTTV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ANALYTICS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45720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TV Consumption — User &amp; Viewership Trends Report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3108960"/>
            <a:ext cx="182880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274320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182880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84632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3108960"/>
            <a:ext cx="182880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94944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Year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BrightTV Leadership · April 2026 By Thandeka Ngetu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Usage Trends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353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provinces, channels and viewing behaviour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Influencing Consumption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3134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day, day of week, gender, race and duration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85800" y="29718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258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2735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boost viewership on low-consumption days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85800" y="39319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2336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to grow BrightTV's user base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|  USER DEMOGRAPHICS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3"/>
          <p:cNvSpPr/>
          <p:nvPr/>
        </p:nvSpPr>
        <p:spPr>
          <a:xfrm>
            <a:off x="365760" y="4251960"/>
            <a:ext cx="73152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4"/>
          <p:cNvSpPr/>
          <p:nvPr/>
        </p:nvSpPr>
        <p:spPr>
          <a:xfrm>
            <a:off x="59436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81.% of viewers are male. Black viewers represent the largest racial group (41.%). The gender gap presents a significant growth opportunity for female targeted content.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1441BA-F839-D7A8-92EE-50D1A505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588" y="1162825"/>
            <a:ext cx="5401429" cy="2543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|  GEOGRAPHIC DISTRIBUTION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943600" y="914400"/>
            <a:ext cx="283464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5943600" y="914400"/>
            <a:ext cx="54864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6126480" y="960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34.1%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12648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Share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1920240"/>
            <a:ext cx="283464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5943600" y="1920240"/>
            <a:ext cx="54864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612648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17.0%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2648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Cape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2926080"/>
            <a:ext cx="283464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1"/>
          <p:cNvSpPr/>
          <p:nvPr/>
        </p:nvSpPr>
        <p:spPr>
          <a:xfrm>
            <a:off x="5943600" y="2926080"/>
            <a:ext cx="54864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612648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12648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3931920"/>
            <a:ext cx="283464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5"/>
          <p:cNvSpPr/>
          <p:nvPr/>
        </p:nvSpPr>
        <p:spPr>
          <a:xfrm>
            <a:off x="5943600" y="3931920"/>
            <a:ext cx="54864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61264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58.5%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12648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Provinces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000500"/>
            <a:ext cx="27693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provinces dominate viewership. Rural outreach could significantly expand the addressable market.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7CDA5F-62A7-4948-10E3-EC84B9B816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3"/>
          <a:stretch>
            <a:fillRect/>
          </a:stretch>
        </p:blipFill>
        <p:spPr>
          <a:xfrm>
            <a:off x="457200" y="1371599"/>
            <a:ext cx="4458322" cy="24957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|  TOP CHANNELS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548640" y="46817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 (SuperSport + ICC Cricket) accounts for 28% of total viewership  which is the dominant content category.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503CCD-FD34-A0CE-B22A-FE2469423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88" y="1185669"/>
            <a:ext cx="8402223" cy="2772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|  VIEWING TIME PATTERNS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365760" y="3840480"/>
            <a:ext cx="201168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Text 3"/>
          <p:cNvSpPr/>
          <p:nvPr/>
        </p:nvSpPr>
        <p:spPr>
          <a:xfrm>
            <a:off x="36576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6576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the peak day (1,675 sessions)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514600" y="3840480"/>
            <a:ext cx="201168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6"/>
          <p:cNvSpPr/>
          <p:nvPr/>
        </p:nvSpPr>
        <p:spPr>
          <a:xfrm>
            <a:off x="251460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51460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of viewing occurs Off-Peak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63440" y="3840480"/>
            <a:ext cx="201168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Text 9"/>
          <p:cNvSpPr/>
          <p:nvPr/>
        </p:nvSpPr>
        <p:spPr>
          <a:xfrm>
            <a:off x="466344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📺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6344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27.% Evening Peak (18:00–22:00)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812280" y="3840480"/>
            <a:ext cx="201168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Text 12"/>
          <p:cNvSpPr/>
          <p:nvPr/>
        </p:nvSpPr>
        <p:spPr>
          <a:xfrm>
            <a:off x="681228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81228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share: 27.% of all views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FF94398-49BF-39A6-B2B7-DF9841E9E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40" y="971207"/>
            <a:ext cx="4153480" cy="24577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872EEBE-F6C1-8A1C-3E0D-5C90652F7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460" y="971207"/>
            <a:ext cx="2829320" cy="2495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|  SESSION DURATION ANALYSIS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212080" y="914400"/>
            <a:ext cx="36576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5212080" y="914400"/>
            <a:ext cx="54864" cy="685800"/>
          </a:xfrm>
          <a:prstGeom prst="rect">
            <a:avLst/>
          </a:prstGeom>
          <a:solidFill>
            <a:srgbClr val="AB329E"/>
          </a:solidFill>
          <a:ln w="12700">
            <a:solidFill>
              <a:srgbClr val="AB329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5394960" y="960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B32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2200" dirty="0">
              <a:solidFill>
                <a:srgbClr val="AB329E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492240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Short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0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minutes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12080" y="1691640"/>
            <a:ext cx="36576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5212080" y="1691640"/>
            <a:ext cx="54864" cy="685800"/>
          </a:xfrm>
          <a:prstGeom prst="rect">
            <a:avLst/>
          </a:prstGeom>
          <a:solidFill>
            <a:srgbClr val="1F742A"/>
          </a:solidFill>
          <a:ln w="12700">
            <a:solidFill>
              <a:srgbClr val="1F74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5394960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2200" dirty="0">
              <a:solidFill>
                <a:srgbClr val="1F742A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9224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2039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minutes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212080" y="2514600"/>
            <a:ext cx="36576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8"/>
          <p:cNvSpPr/>
          <p:nvPr/>
        </p:nvSpPr>
        <p:spPr>
          <a:xfrm>
            <a:off x="5214693" y="2514600"/>
            <a:ext cx="54864" cy="685800"/>
          </a:xfrm>
          <a:prstGeom prst="rect">
            <a:avLst/>
          </a:prstGeom>
          <a:solidFill>
            <a:srgbClr val="F77A39"/>
          </a:solidFill>
          <a:ln w="12700">
            <a:solidFill>
              <a:srgbClr val="F77A3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19"/>
          <p:cNvSpPr/>
          <p:nvPr/>
        </p:nvSpPr>
        <p:spPr>
          <a:xfrm>
            <a:off x="5316583" y="26426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7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2200" dirty="0">
              <a:solidFill>
                <a:srgbClr val="F77A39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68143" y="2539419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68143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16–30 minutes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4543" y="441002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of sessions are under 5 minutes indicating channel surfing or short content clips are the dominant viewing behaviour.</a:t>
            </a:r>
            <a:endParaRPr lang="en-US" sz="800" i="1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35A3A4E-EA9C-CA07-5847-1D7E80B88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6" y="1536192"/>
            <a:ext cx="4505954" cy="2633472"/>
          </a:xfrm>
          <a:prstGeom prst="rect">
            <a:avLst/>
          </a:prstGeom>
        </p:spPr>
      </p:pic>
      <p:sp>
        <p:nvSpPr>
          <p:cNvPr id="33" name="Shape 22">
            <a:extLst>
              <a:ext uri="{FF2B5EF4-FFF2-40B4-BE49-F238E27FC236}">
                <a16:creationId xmlns:a16="http://schemas.microsoft.com/office/drawing/2014/main" id="{A4D8DEC8-4BA9-AB6A-048E-9D7964634A22}"/>
              </a:ext>
            </a:extLst>
          </p:cNvPr>
          <p:cNvSpPr/>
          <p:nvPr/>
        </p:nvSpPr>
        <p:spPr>
          <a:xfrm>
            <a:off x="5212080" y="3332335"/>
            <a:ext cx="36576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3CBB65C1-ED8F-5FA6-85F0-059B004BD7BA}"/>
              </a:ext>
            </a:extLst>
          </p:cNvPr>
          <p:cNvSpPr/>
          <p:nvPr/>
        </p:nvSpPr>
        <p:spPr>
          <a:xfrm>
            <a:off x="5212080" y="3332335"/>
            <a:ext cx="54864" cy="685800"/>
          </a:xfrm>
          <a:prstGeom prst="rect">
            <a:avLst/>
          </a:prstGeom>
          <a:solidFill>
            <a:srgbClr val="638A9C"/>
          </a:solidFill>
          <a:ln w="12700">
            <a:solidFill>
              <a:srgbClr val="638A9C"/>
            </a:solidFill>
            <a:prstDash val="solid"/>
          </a:ln>
        </p:spPr>
        <p:txBody>
          <a:bodyPr/>
          <a:lstStyle/>
          <a:p>
            <a:endParaRPr lang="en-ZA">
              <a:solidFill>
                <a:srgbClr val="638A9C"/>
              </a:solidFill>
            </a:endParaRPr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00AFEB54-DE23-9F83-E9C5-18731995AD9F}"/>
              </a:ext>
            </a:extLst>
          </p:cNvPr>
          <p:cNvSpPr/>
          <p:nvPr/>
        </p:nvSpPr>
        <p:spPr>
          <a:xfrm>
            <a:off x="5394960" y="3378055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8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2200" dirty="0">
              <a:solidFill>
                <a:srgbClr val="638A9C"/>
              </a:solidFill>
            </a:endParaRPr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798AE336-ED76-464A-3479-B096E3C6AA5F}"/>
              </a:ext>
            </a:extLst>
          </p:cNvPr>
          <p:cNvSpPr/>
          <p:nvPr/>
        </p:nvSpPr>
        <p:spPr>
          <a:xfrm>
            <a:off x="6492240" y="3378055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300" dirty="0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26E0B61B-7059-FFFA-8BDF-031F26A6CA55}"/>
              </a:ext>
            </a:extLst>
          </p:cNvPr>
          <p:cNvSpPr/>
          <p:nvPr/>
        </p:nvSpPr>
        <p:spPr>
          <a:xfrm>
            <a:off x="6492240" y="3679807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minutes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|  FACTORS INFLUENCING CONSUMPTION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 Gender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 dominate at 81.5%. Female viewers under-represented. Content mix may not cater to female preferences.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64008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98348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Time of 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 (18–22h) drives 27.1% of sessions. Off-peak hours (61.2%) show opportunity for always-on content.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64008" cy="1188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Geography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areas (Gauteng, Western Cape, KZN) drive 58.5% of traffic. Rural provinces remain underpenetrated.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64008" cy="1188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98348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Day of Week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Friday–Sunday = highest viewership. Monday is the lowest. Midweek engagement is inconsistent and needs stimulation.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64008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54864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Content Type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 leads with ~28% share. Music channels (Channel O, Trace) show strong youth engagement.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4800600" y="3611880"/>
            <a:ext cx="64008" cy="1188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98348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Duration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023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63.5% of sessions under 5 min. Engaging long-form content could significantly increase total watch 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|  CONTENT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1E1040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LOWEST CONSUMPTION DAYS: Monday (957 sessions) &amp; Tuesday (1,322 sessions)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697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Monday Night Sports Replays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weekend sports highlights and replays on Monday evenings to recapture sports fans who missed live events.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6974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26974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337560" y="1709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Tuesday 'New Release' Premieres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new episodes and movie premieres on Tuesdays to create a weekly appointment-viewing habit.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974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26974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217920" y="1709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Interactive Viewer Challenges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Gamify Monday/Tuesday viewing with live polls, quizzes, and social media integration to drive engagement.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26974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6974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57200" y="3264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Kids &amp; Family Content (Morning)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morning off-peak hours with children's educational content — Cartoon Network already shows demand.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3154680"/>
            <a:ext cx="26974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3246120" y="3154680"/>
            <a:ext cx="26974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3337560" y="3264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Local Language Programming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6118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Zulu, Xhosa, and Sotho programming to tap under-served communities in KZN, Eastern Cape, and Limpopo.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154680"/>
            <a:ext cx="26974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6126480" y="3154680"/>
            <a:ext cx="269748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217920" y="3264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Binge Bundles &amp; Catch-Up Series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6118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weekend series catch-up on Mondays to convert weekend viewers into weekday users.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|  GROWTH INITIATIVES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Female Audience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Commission female-led reality, lifestyle &amp; drama content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Partner with women's brands for sponsored programming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76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 a 'BrightTV Women' curated channel block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1148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1148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Rural &amp; Province Expansion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Targeted mobile data bundle partnerships for rural provinces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892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Offline download feature for low-connectivity areas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276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Local language content for Limpopo, Eastern Cape &amp; North West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148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Youth &amp; Digital Engagement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Short-form vertical content for mobile-first Gen Z viewers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858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TikTok/Instagram integrations to drive app discovery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242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Youth sports leagues and esports streaming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926080"/>
            <a:ext cx="41148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4800600" y="2926080"/>
            <a:ext cx="41148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93776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Retention &amp; Loyalty Programme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Personalised content recommendations based on viewing history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858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Loyalty rewards for consistent daily viewing streaks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242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Exclusive content for long-session (30min+) subscribers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BrightTV at a Glance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93192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Sports &amp; Music are the backbone — protect and expand these 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645920"/>
            <a:ext cx="393192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07492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  Female audience is a major untapped growth opportunity at only 9.3%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393192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3 provinces deliver 58.5% of views — rural expansion is key to scale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651760"/>
            <a:ext cx="393192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07492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Mondays &amp; Tuesdays need targeted content to lift the weekly floor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393192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86868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52% of sessions are &lt;5 min — invest in engaging longer form content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657600"/>
            <a:ext cx="393192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07492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Loyalty, personalisation &amp; local language content drive retention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·  Viewership Analytics  · 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794</Words>
  <Application>Microsoft Office PowerPoint</Application>
  <PresentationFormat>On-screen Show (16:9)</PresentationFormat>
  <Paragraphs>124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PptxGenJS</dc:creator>
  <cp:lastModifiedBy>Thandeka Ngetu</cp:lastModifiedBy>
  <cp:revision>2</cp:revision>
  <dcterms:created xsi:type="dcterms:W3CDTF">2026-04-18T22:50:56Z</dcterms:created>
  <dcterms:modified xsi:type="dcterms:W3CDTF">2026-04-18T23:22:34Z</dcterms:modified>
</cp:coreProperties>
</file>